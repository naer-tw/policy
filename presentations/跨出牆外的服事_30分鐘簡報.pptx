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【影片開場 — 不在此片】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播放國教盟 2023-2025 倡議成果影片（2 分鐘）。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影片結束→第一句話：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『您剛剛看見的，是過去三年神在牆外動工的痕跡。但今天我要先帶各位回到兩個現場——一個叫剴剴，一個叫性平法。因為這兩個現場，正在告訴台灣教會：我們再也不能只在牆內服事了。』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【講稿｜90 秒】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2023 年的冬天，台北一個 1 歲多的男孩，我們叫他剴剴。他原本應該在保母家被照顧。社工去訪視過，那本來是社會安全網最後一道防線。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但剴剴沒有等到下一次訪視——他在那雙本該擁抱他的手裡，永遠閉上了眼睛。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弟兄姊妹，整個台灣震驚的不只是一個孩子的死，而是震驚我們以為的『系統』，原來這麼薄。社工被起訴、一審判刑——這在台灣是史無前例的。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但判完之後呢？下一個剴剴會不會還在發生？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【講稿｜90 秒】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另一個現場是性平法。各位牧者，這不只是某一個爭議議題，而是整個世代的價值權柄之爭——誰來定義我們的孩子應該長成什麼樣子？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過去兩年，我們看見家長在學校門口拿到的，是他們從來沒見過的教材；想去公聽會發言，被排除在程序之外。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今年國教盟召開了『性平法再校準』公聽會，三大主張就是要把教育拉回教育的本位——讓家長重新有座位、讓孩子重新被守護。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【講稿｜60 秒】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一個是『保護的牆破了』，一個是『價值的牆斜了』。這就是 2026 年台灣兒少與家庭的處境。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而教會——我們是這個社會剩下最完整的一張網。但我們需要走出去。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【講稿｜60 秒】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過去三年，神讓國教盟做的事用三個數字濃縮：113 篇新聞稿、286 場活動、168 個合作組織。校園安全 8 項訴求，6 項政府已經回應。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這不是國教盟的功勞——這是當有人願意跨出牆外，神就讓果子結出來。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【講稿｜60 秒】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尼希米重建城牆的時候，沒有一個人能單獨修完整道牆。每一段都靠不同的家族、不同的職業、彼此緊鄰著做。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國教盟這三年做的，就是這件事——把『願意修牆的人』連起來。今天我也邀請台灣的教會，加入這道城牆的修造。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【主持引導｜約 20 秒】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『不需要分析、不需要對策，只要分享：哪一個畫面神特別觸動我？計時 3 分鐘，每位 30 秒就夠。』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計時器開始。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【講稿｜75 秒】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兒少通報案件五年內增加 65%，但實際處置率只有 7%——這代表 93% 的求救聲被吞掉了。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而台灣現在有幾個專責的兒少部會？(停一秒) 零個。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日本去年成立了『こども家庭庁』，韓國有保健福祉部專責處。台灣呢？我們連一個專責部會都沒有。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國教盟正在推動的，是讓兒少權法第 7 條那個只是『會報』的層級，升格為二級『兒童家庭部』——這是國家對下一代的態度宣告。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【講稿｜75 秒】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衛福部預告的兒少權法草案有 165 條，看起來很完整，但國教盟比對之後找出六大缺口。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最關鍵的就是『社工保證人地位』——剴剴案的社工被判刑之後，整個社工體系在崩潰，因為法律對她們的責任邊界沒有寫清楚。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我們不是要保護任何一方，我們是要把制度的牆重新砌實。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【講稿｜30 秒】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兒少在公共政策的桌上，永遠是『不能自辯』的那一群。今天教會若不為他們開口，誰開口？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【講稿｜60 秒】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過去倡議的盲點是『議題分散』——婚家、生育、教養、托育各自為政。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家庭韌性行動聯盟要做的是把這些縫合起來，因為家庭從來不是被『某個政策』擊垮的，是被『整個社會的擠壓』擊垮的。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【講稿｜60 秒】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我們的孩子現在面對的不是 30 年前的毒品。依托咪酯、喪屍煙彈、新型尼古丁袋——這些都是化學戰等級的攻擊。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今年國教盟參與藥物濫用防制國際研討會，把『唾液快篩二層檢測機制』帶上國際對話桌。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這不是技術問題，這是為這個世代築牆。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【講稿｜90 秒】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我知道每一位牧者都很忙，所以我不是邀請各位『另起爐灶』——我是邀請各位在你的教會體質裡，找一塊你最能委身的。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有些教會有禱告勇士，那就成為代禱那一塊；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有些教會有律師、學者，那就成為研究那一塊；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有些教會有發言力、媒體連結，那就成為發聲那一塊；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有些教會有社工、輔導、家庭事工，那就成為陪伴那一塊。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沒有任何一間教會需要做全部，但每一間教會都可以做一塊。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【講稿｜45 秒】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以斯帖如果留在王宮裡安全地當她的王后，整個猶太民族就沒了。她的『位分』，是為了『跨出去』。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弟兄姊妹，台灣教會被神放在這個時代、這片土地，不是為了我們的安全，是為了現今的機會。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【講稿｜45 秒｜全場高點，請放慢語速】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弟兄姊妹，創世記四十九章二十二節說：『約瑟，他的枝條探出牆外。』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（停一秒）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教會的根，留在泉旁——我們不離開基督。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但教會的果子，必須探出牆外。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這就是國教盟的呼召，也是今天我們對每一間教會的邀請。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【主持引導｜約 20 秒】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『這次不需要全部回答，每位牧者挑一題回應就好。重點不是答得完整，是讓你想到的那個人，等一下你會打給他。』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計時器開始。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【結語禱告｜約 60 秒，邀請會眾起立或同心】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主啊，謝謝祢讓我們聽見牆外的呼喊。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求祢給台灣每一位牧者，今天回去之後，至少打一通電話、找到一位同行的人。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讓祢的教會像約瑟那棵枝子——根扎在祢裡面，果子結在這片土地上。</a:t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/>
            </a:r>
          </a:p>
          <a:p>
            <a:r>
              <a:rPr sz="1200" b="0">
                <a:solidFill>
                  <a:srgbClr val="1A1A1A"/>
                </a:solidFill>
                <a:ea typeface="微軟正黑體"/>
                <a:latin typeface="微軟正黑體"/>
              </a:rPr>
              <a:t>奉主耶穌的名禱告，阿們。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D9A8"/>
                </a:solidFill>
                <a:ea typeface="微軟正黑體"/>
                <a:latin typeface="微軟正黑體"/>
              </a:rPr>
              <a:t>國教行動聯盟  Action Alliance on Basic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ea typeface="微軟正黑體"/>
                <a:latin typeface="微軟正黑體"/>
              </a:rPr>
              <a:t>跨出牆外的服事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F7F3EA"/>
                </a:solidFill>
                <a:ea typeface="微軟正黑體"/>
                <a:latin typeface="微軟正黑體"/>
              </a:rPr>
              <a:t>從家庭崩解的呼喊</a:t>
            </a:r>
          </a:p>
          <a:p>
            <a:pPr algn="l"/>
            <a:r>
              <a:rPr sz="3200" b="0">
                <a:solidFill>
                  <a:srgbClr val="F7F3EA"/>
                </a:solidFill>
                <a:ea typeface="微軟正黑體"/>
                <a:latin typeface="微軟正黑體"/>
              </a:rPr>
              <a:t>到公共政策的呼召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solidFill>
            <a:srgbClr val="1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83480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D9A8"/>
                </a:solidFill>
                <a:ea typeface="標楷體"/>
                <a:latin typeface="標楷體"/>
              </a:rPr>
              <a:t>「約瑟……他的枝條探出牆外。」</a:t>
            </a:r>
          </a:p>
          <a:p>
            <a:pPr algn="l"/>
            <a:r>
              <a:rPr sz="1400" b="0">
                <a:solidFill>
                  <a:srgbClr val="C9A247"/>
                </a:solidFill>
                <a:ea typeface="微軟正黑體"/>
                <a:latin typeface="微軟正黑體"/>
              </a:rPr>
              <a:t>—— 創世記 49:22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D9A8"/>
                </a:solidFill>
                <a:ea typeface="微軟正黑體"/>
                <a:latin typeface="微軟正黑體"/>
              </a:rPr>
              <a:t>牧者聚集  ·  30 分鐘簡報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latin typeface="微軟正黑體"/>
              </a:rPr>
              <a:t>現場真實 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ea typeface="微軟正黑體"/>
                <a:latin typeface="微軟正黑體"/>
              </a:rPr>
              <a:t>剴剴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E8D9A8"/>
                </a:solidFill>
                <a:ea typeface="微軟正黑體"/>
                <a:latin typeface="微軟正黑體"/>
              </a:rPr>
              <a:t>那個沒有人來抱起他的孩子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3108960"/>
            <a:ext cx="2130552" cy="0"/>
          </a:xfrm>
          <a:prstGeom prst="line">
            <a:avLst/>
          </a:prstGeom>
          <a:ln w="38100">
            <a:solidFill>
              <a:srgbClr val="C9A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ea typeface="微軟正黑體"/>
                <a:latin typeface="微軟正黑體"/>
              </a:rPr>
              <a:t>他只有 1 歲。</a:t>
            </a:r>
          </a:p>
          <a:p>
            <a:pPr algn="ctr"/>
            <a:r>
              <a:rPr sz="3000" b="0">
                <a:solidFill>
                  <a:srgbClr val="FFFFFF"/>
                </a:solidFill>
                <a:ea typeface="微軟正黑體"/>
                <a:latin typeface="微軟正黑體"/>
              </a:rPr>
              <a:t>他活下來的機會，</a:t>
            </a:r>
          </a:p>
          <a:p>
            <a:pPr algn="ctr"/>
            <a:r>
              <a:rPr sz="3000" b="1">
                <a:solidFill>
                  <a:srgbClr val="C9A247"/>
                </a:solidFill>
                <a:ea typeface="微軟正黑體"/>
                <a:latin typeface="微軟正黑體"/>
              </a:rPr>
              <a:t>本來叫做「社會安全網」。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國教行動聯盟  ·  跨出牆外的服事  ·  現場真實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latin typeface="微軟正黑體"/>
              </a:rPr>
              <a:t>現場真實 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0B2B4A"/>
                </a:solidFill>
                <a:ea typeface="微軟正黑體"/>
                <a:latin typeface="微軟正黑體"/>
              </a:rPr>
              <a:t>性平法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6B6B6B"/>
                </a:solidFill>
                <a:ea typeface="微軟正黑體"/>
                <a:latin typeface="微軟正黑體"/>
              </a:rPr>
              <a:t>當父母不再被允許說話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108960"/>
            <a:ext cx="50292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ea typeface="微軟正黑體"/>
                <a:latin typeface="微軟正黑體"/>
              </a:rPr>
              <a:t>家長想問：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4663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2B4A"/>
                </a:solidFill>
                <a:ea typeface="微軟正黑體"/>
                <a:latin typeface="微軟正黑體"/>
              </a:rPr>
              <a:t>「我的孩子</a:t>
            </a:r>
          </a:p>
          <a:p>
            <a:pPr algn="l"/>
            <a:r>
              <a:rPr sz="2600" b="1">
                <a:solidFill>
                  <a:srgbClr val="0B2B4A"/>
                </a:solidFill>
                <a:ea typeface="微軟正黑體"/>
                <a:latin typeface="微軟正黑體"/>
              </a:rPr>
              <a:t> 在學什麼？」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108960"/>
            <a:ext cx="5029200" cy="23774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D9A8"/>
                </a:solidFill>
                <a:ea typeface="微軟正黑體"/>
                <a:latin typeface="微軟正黑體"/>
              </a:rPr>
              <a:t>制度卻說：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4663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ea typeface="微軟正黑體"/>
                <a:latin typeface="微軟正黑體"/>
              </a:rPr>
              <a:t>「這不是</a:t>
            </a:r>
          </a:p>
          <a:p>
            <a:pPr algn="l"/>
            <a:r>
              <a:rPr sz="2600" b="1">
                <a:solidFill>
                  <a:srgbClr val="C9A247"/>
                </a:solidFill>
                <a:ea typeface="微軟正黑體"/>
                <a:latin typeface="微軟正黑體"/>
              </a:rPr>
              <a:t> 你的事。」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23A3A"/>
                </a:solidFill>
                <a:ea typeface="微軟正黑體"/>
                <a:latin typeface="微軟正黑體"/>
              </a:rPr>
              <a:t>誰來定義我們的孩子，應該長成什麼樣子？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國教行動聯盟  ·  跨出牆外的服事  ·  現場真實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latin typeface="微軟正黑體"/>
              </a:rPr>
              <a:t>現場真實 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6B6B6B"/>
                </a:solidFill>
                <a:ea typeface="微軟正黑體"/>
                <a:latin typeface="微軟正黑體"/>
              </a:rPr>
              <a:t>這不是兩個個案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0B2B4A"/>
                </a:solidFill>
                <a:ea typeface="微軟正黑體"/>
                <a:latin typeface="微軟正黑體"/>
              </a:rPr>
              <a:t>是兩道呼喊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4846320" cy="201168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C9A247"/>
                </a:solidFill>
                <a:ea typeface="微軟正黑體"/>
                <a:latin typeface="微軟正黑體"/>
              </a:rPr>
              <a:t>剴剴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ea typeface="微軟正黑體"/>
                <a:latin typeface="微軟正黑體"/>
              </a:rPr>
              <a:t>兒少保護崩落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8D9A8"/>
                </a:solidFill>
                <a:ea typeface="微軟正黑體"/>
                <a:latin typeface="微軟正黑體"/>
              </a:rPr>
              <a:t>→ 系統的牆破了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743200"/>
            <a:ext cx="4846320" cy="201168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C9A247"/>
                </a:solidFill>
                <a:ea typeface="微軟正黑體"/>
                <a:latin typeface="微軟正黑體"/>
              </a:rPr>
              <a:t>性平法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38328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ea typeface="微軟正黑體"/>
                <a:latin typeface="微軟正黑體"/>
              </a:rPr>
              <a:t>教育價值傾斜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8D9A8"/>
                </a:solidFill>
                <a:ea typeface="微軟正黑體"/>
                <a:latin typeface="微軟正黑體"/>
              </a:rPr>
              <a:t>→ 文化的牆斜了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212080"/>
            <a:ext cx="10332720" cy="868680"/>
          </a:xfrm>
          <a:prstGeom prst="rect">
            <a:avLst/>
          </a:prstGeom>
          <a:solidFill>
            <a:srgbClr val="C9A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332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0B2B4A"/>
                </a:solidFill>
                <a:ea typeface="微軟正黑體"/>
                <a:latin typeface="微軟正黑體"/>
              </a:rPr>
              <a:t>教會還能只在牆內服事嗎？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國教行動聯盟  ·  跨出牆外的服事  ·  現場真實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latin typeface="微軟正黑體"/>
              </a:rPr>
              <a:t>成果聚焦 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0B2B4A"/>
                </a:solidFill>
                <a:ea typeface="微軟正黑體"/>
                <a:latin typeface="微軟正黑體"/>
              </a:rPr>
              <a:t>神已經動工了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B6B6B"/>
                </a:solidFill>
                <a:ea typeface="微軟正黑體"/>
                <a:latin typeface="微軟正黑體"/>
              </a:rPr>
              <a:t>2023 - 2025  三個數字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3520440" cy="27432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371600" y="4114800"/>
            <a:ext cx="2423160" cy="0"/>
          </a:xfrm>
          <a:prstGeom prst="line">
            <a:avLst/>
          </a:prstGeom>
          <a:ln w="38100">
            <a:solidFill>
              <a:srgbClr val="C9A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2606040"/>
            <a:ext cx="3520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ea typeface="微軟正黑體"/>
                <a:latin typeface="微軟正黑體"/>
              </a:rPr>
              <a:t>113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3520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E8D9A8"/>
                </a:solidFill>
                <a:ea typeface="微軟正黑體"/>
                <a:latin typeface="微軟正黑體"/>
              </a:rPr>
              <a:t>篇新聞稿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2331720"/>
            <a:ext cx="3520440" cy="27432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166360" y="4114800"/>
            <a:ext cx="2423160" cy="0"/>
          </a:xfrm>
          <a:prstGeom prst="line">
            <a:avLst/>
          </a:prstGeom>
          <a:ln w="38100">
            <a:solidFill>
              <a:srgbClr val="C9A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17720" y="2606040"/>
            <a:ext cx="3520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ea typeface="微軟正黑體"/>
                <a:latin typeface="微軟正黑體"/>
              </a:rPr>
              <a:t>286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297680"/>
            <a:ext cx="3520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E8D9A8"/>
                </a:solidFill>
                <a:ea typeface="微軟正黑體"/>
                <a:latin typeface="微軟正黑體"/>
              </a:rPr>
              <a:t>場活動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331720"/>
            <a:ext cx="3520440" cy="27432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961120" y="4114800"/>
            <a:ext cx="2423160" cy="0"/>
          </a:xfrm>
          <a:prstGeom prst="line">
            <a:avLst/>
          </a:prstGeom>
          <a:ln w="38100">
            <a:solidFill>
              <a:srgbClr val="C9A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0" y="2606040"/>
            <a:ext cx="3520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ea typeface="微軟正黑體"/>
                <a:latin typeface="微軟正黑體"/>
              </a:rPr>
              <a:t>168+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297680"/>
            <a:ext cx="3520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E8D9A8"/>
                </a:solidFill>
                <a:ea typeface="微軟正黑體"/>
                <a:latin typeface="微軟正黑體"/>
              </a:rPr>
              <a:t>合作組織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B6B6B"/>
                </a:solidFill>
                <a:ea typeface="微軟正黑體"/>
                <a:latin typeface="微軟正黑體"/>
              </a:rPr>
              <a:t>7,917+ 媒體聲量　·　校園安全 8 項訴求，6 項獲政府回應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2B4A"/>
                </a:solidFill>
                <a:ea typeface="微軟正黑體"/>
                <a:latin typeface="微軟正黑體"/>
              </a:rPr>
              <a:t>當有人願意跨出牆外，神就讓果子結出來。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國教行動聯盟  ·  跨出牆外的服事  ·  成果聚焦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C9A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latin typeface="微軟正黑體"/>
              </a:rPr>
              <a:t>成果聚焦 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ea typeface="標楷體"/>
                <a:latin typeface="標楷體"/>
              </a:rPr>
              <a:t>「這樣，我們修造城牆，</a:t>
            </a:r>
          </a:p>
          <a:p>
            <a:pPr algn="ctr"/>
            <a:r>
              <a:rPr sz="3200" b="0">
                <a:solidFill>
                  <a:srgbClr val="FFFFFF"/>
                </a:solidFill>
                <a:ea typeface="標楷體"/>
                <a:latin typeface="標楷體"/>
              </a:rPr>
              <a:t>城牆就都連絡，</a:t>
            </a:r>
          </a:p>
          <a:p>
            <a:pPr algn="ctr"/>
            <a:r>
              <a:rPr sz="3600" b="1">
                <a:solidFill>
                  <a:srgbClr val="C9A247"/>
                </a:solidFill>
                <a:ea typeface="標楷體"/>
                <a:latin typeface="標楷體"/>
              </a:rPr>
              <a:t>因為百姓齊心做工。」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4572000"/>
            <a:ext cx="2130552" cy="0"/>
          </a:xfrm>
          <a:prstGeom prst="line">
            <a:avLst/>
          </a:prstGeom>
          <a:ln w="31750">
            <a:solidFill>
              <a:srgbClr val="C9A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8D9A8"/>
                </a:solidFill>
                <a:ea typeface="微軟正黑體"/>
                <a:latin typeface="微軟正黑體"/>
              </a:rPr>
              <a:t>—— 尼希米記 4:6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7F3EA"/>
                </a:solidFill>
                <a:ea typeface="微軟正黑體"/>
                <a:latin typeface="微軟正黑體"/>
              </a:rPr>
              <a:t>國教盟做的，是把「願意修牆的人」連起來。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國教行動聯盟  ·  跨出牆外的服事  ·  成果聚焦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A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latin typeface="微軟正黑體"/>
              </a:rPr>
              <a:t>小組討論 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0B2B4A"/>
                </a:solidFill>
                <a:ea typeface="微軟正黑體"/>
                <a:latin typeface="微軟正黑體"/>
              </a:rPr>
              <a:t>先停下來，聽神在說什麼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B2B4A"/>
                </a:solidFill>
                <a:ea typeface="微軟正黑體"/>
                <a:latin typeface="微軟正黑體"/>
              </a:rPr>
              <a:t>Discussion  ·  3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377440"/>
            <a:ext cx="99669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4183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1A1A1A"/>
                </a:solidFill>
                <a:ea typeface="微軟正黑體"/>
                <a:latin typeface="微軟正黑體"/>
              </a:rPr>
              <a:t>剛剛影片裡的孩子、剴剴的案件、性平法的張力——</a:t>
            </a:r>
          </a:p>
          <a:p>
            <a:pPr algn="l">
              <a:spcAft>
                <a:spcPts val="1800"/>
              </a:spcAft>
            </a:pPr>
            <a:r>
              <a:rPr sz="3000" b="1">
                <a:solidFill>
                  <a:srgbClr val="0B2B4A"/>
                </a:solidFill>
                <a:ea typeface="微軟正黑體"/>
                <a:latin typeface="微軟正黑體"/>
              </a:rPr>
              <a:t>哪一個畫面最觸動你？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ea typeface="微軟正黑體"/>
                <a:latin typeface="微軟正黑體"/>
              </a:rPr>
              <a:t>身為牧者，神正在如何透過這些「牆外」的呼喊，</a:t>
            </a:r>
          </a:p>
          <a:p>
            <a:pPr algn="l"/>
            <a:r>
              <a:rPr sz="2200" b="0">
                <a:solidFill>
                  <a:srgbClr val="1A1A1A"/>
                </a:solidFill>
                <a:ea typeface="微軟正黑體"/>
                <a:latin typeface="微軟正黑體"/>
              </a:rPr>
              <a:t>對你和你的會眾說話？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B2B4A"/>
                </a:solidFill>
                <a:ea typeface="微軟正黑體"/>
                <a:latin typeface="微軟正黑體"/>
              </a:rPr>
              <a:t>一個畫面 ＋ 一句感動  ·  每位約 30 秒  ·  共 3 分鐘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國教行動聯盟  ·  跨出牆外的服事  ·  小組討論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latin typeface="微軟正黑體"/>
              </a:rPr>
              <a:t>2026 重點 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B2B4A"/>
                </a:solidFill>
                <a:ea typeface="微軟正黑體"/>
                <a:latin typeface="微軟正黑體"/>
              </a:rPr>
              <a:t>2026 第一個戰場：兒童家庭部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3017520" cy="23774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400" b="1">
                <a:solidFill>
                  <a:srgbClr val="C9A247"/>
                </a:solidFill>
                <a:ea typeface="微軟正黑體"/>
                <a:latin typeface="微軟正黑體"/>
              </a:rPr>
              <a:t>65%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ea typeface="微軟正黑體"/>
                <a:latin typeface="微軟正黑體"/>
              </a:rPr>
              <a:t>通報 5 年增加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103120"/>
            <a:ext cx="3017520" cy="23774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400" b="1">
                <a:solidFill>
                  <a:srgbClr val="C9A247"/>
                </a:solidFill>
                <a:ea typeface="微軟正黑體"/>
                <a:latin typeface="微軟正黑體"/>
              </a:rPr>
              <a:t>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79476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ea typeface="微軟正黑體"/>
                <a:latin typeface="微軟正黑體"/>
              </a:rPr>
              <a:t>處置率僅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103120"/>
            <a:ext cx="3017520" cy="23774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37744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400" b="1">
                <a:solidFill>
                  <a:srgbClr val="C9A247"/>
                </a:solidFill>
                <a:ea typeface="微軟正黑體"/>
                <a:latin typeface="微軟正黑體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79476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ea typeface="微軟正黑體"/>
                <a:latin typeface="微軟正黑體"/>
              </a:rPr>
              <a:t>台灣專責部會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ea typeface="微軟正黑體"/>
                <a:latin typeface="微軟正黑體"/>
              </a:rPr>
              <a:t>對標：日本こども家庭庁  ·  韓國保健福祉部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solidFill>
            <a:srgbClr val="C9A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2B4A"/>
                </a:solidFill>
                <a:ea typeface="微軟正黑體"/>
                <a:latin typeface="微軟正黑體"/>
              </a:rPr>
              <a:t>兒少權法第 7 條應升格二級「兒童家庭部」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國教行動聯盟  ·  跨出牆外的服事  ·  2026 重點 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latin typeface="微軟正黑體"/>
              </a:rPr>
              <a:t>2026 重點 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B2B4A"/>
                </a:solidFill>
                <a:ea typeface="微軟正黑體"/>
                <a:latin typeface="微軟正黑體"/>
              </a:rPr>
              <a:t>2026 第二個戰場：兒少權法六大缺口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B6B6B"/>
                </a:solidFill>
                <a:ea typeface="微軟正黑體"/>
                <a:latin typeface="微軟正黑體"/>
              </a:rPr>
              <a:t>165 條草案  ×  六大制度盲點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468880"/>
            <a:ext cx="3291840" cy="1005840"/>
          </a:xfrm>
          <a:prstGeom prst="roundRect">
            <a:avLst>
              <a:gd name="adj" fmla="val 40000"/>
            </a:avLst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latin typeface="微軟正黑體"/>
              </a:rPr>
              <a:t>通報認定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468880"/>
            <a:ext cx="3291840" cy="1005840"/>
          </a:xfrm>
          <a:prstGeom prst="roundRect">
            <a:avLst>
              <a:gd name="adj" fmla="val 40000"/>
            </a:avLst>
          </a:prstGeom>
          <a:solidFill>
            <a:srgbClr val="C9A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2B4A"/>
                </a:solidFill>
                <a:ea typeface="微軟正黑體"/>
                <a:latin typeface="微軟正黑體"/>
              </a:rPr>
              <a:t>社工保證人地位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468880"/>
            <a:ext cx="3291840" cy="1005840"/>
          </a:xfrm>
          <a:prstGeom prst="roundRect">
            <a:avLst>
              <a:gd name="adj" fmla="val 40000"/>
            </a:avLst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latin typeface="微軟正黑體"/>
              </a:rPr>
              <a:t>安置責任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749040"/>
            <a:ext cx="3291840" cy="1005840"/>
          </a:xfrm>
          <a:prstGeom prst="roundRect">
            <a:avLst>
              <a:gd name="adj" fmla="val 40000"/>
            </a:avLst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latin typeface="微軟正黑體"/>
              </a:rPr>
              <a:t>兒少代表權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749040"/>
            <a:ext cx="3291840" cy="1005840"/>
          </a:xfrm>
          <a:prstGeom prst="roundRect">
            <a:avLst>
              <a:gd name="adj" fmla="val 40000"/>
            </a:avLst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latin typeface="微軟正黑體"/>
              </a:rPr>
              <a:t>資訊揭露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749040"/>
            <a:ext cx="3291840" cy="1005840"/>
          </a:xfrm>
          <a:prstGeom prst="roundRect">
            <a:avLst>
              <a:gd name="adj" fmla="val 40000"/>
            </a:avLst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latin typeface="微軟正黑體"/>
              </a:rPr>
              <a:t>跨部會權責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492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B6B6B"/>
                </a:solidFill>
                <a:ea typeface="微軟正黑體"/>
                <a:latin typeface="微軟正黑體"/>
              </a:rPr>
              <a:t>剴剴案之後，整個社工體系在崩潰——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2B4A"/>
                </a:solidFill>
                <a:ea typeface="微軟正黑體"/>
                <a:latin typeface="微軟正黑體"/>
              </a:rPr>
              <a:t>因為法律對她們的責任邊界沒有寫清楚。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國教行動聯盟  ·  跨出牆外的服事  ·  2026 重點 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C9A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latin typeface="微軟正黑體"/>
              </a:rPr>
              <a:t>2026 重點 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sz="3600" b="0">
                <a:solidFill>
                  <a:srgbClr val="FFFFFF"/>
                </a:solidFill>
                <a:ea typeface="標楷體"/>
                <a:latin typeface="標楷體"/>
              </a:rPr>
              <a:t>「你當為不能自辯的開口，</a:t>
            </a:r>
          </a:p>
          <a:p>
            <a:pPr algn="ctr"/>
            <a:r>
              <a:rPr sz="3800" b="1">
                <a:solidFill>
                  <a:srgbClr val="C9A247"/>
                </a:solidFill>
                <a:ea typeface="標楷體"/>
                <a:latin typeface="標楷體"/>
              </a:rPr>
              <a:t>為一切孤獨的伸冤。」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4572000"/>
            <a:ext cx="2130552" cy="0"/>
          </a:xfrm>
          <a:prstGeom prst="line">
            <a:avLst/>
          </a:prstGeom>
          <a:ln w="31750">
            <a:solidFill>
              <a:srgbClr val="C9A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8D9A8"/>
                </a:solidFill>
                <a:ea typeface="微軟正黑體"/>
                <a:latin typeface="微軟正黑體"/>
              </a:rPr>
              <a:t>—— 箴言 31:8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7F3EA"/>
                </a:solidFill>
                <a:ea typeface="微軟正黑體"/>
                <a:latin typeface="微軟正黑體"/>
              </a:rPr>
              <a:t>兒少在公共政策桌上，永遠是不能自辯的那一群。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國教行動聯盟  ·  跨出牆外的服事  ·  2026 重點 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latin typeface="微軟正黑體"/>
              </a:rPr>
              <a:t>2026 重點 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B2B4A"/>
                </a:solidFill>
                <a:ea typeface="微軟正黑體"/>
                <a:latin typeface="微軟正黑體"/>
              </a:rPr>
              <a:t>橫向：家庭韌性行動聯盟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6B6B6B"/>
                </a:solidFill>
                <a:ea typeface="微軟正黑體"/>
                <a:latin typeface="微軟正黑體"/>
              </a:rPr>
              <a:t>從單一議題  →  家庭總體戰略</a:t>
            </a:r>
          </a:p>
        </p:txBody>
      </p:sp>
      <p:sp>
        <p:nvSpPr>
          <p:cNvPr id="6" name="Hexagon 5"/>
          <p:cNvSpPr/>
          <p:nvPr/>
        </p:nvSpPr>
        <p:spPr>
          <a:xfrm>
            <a:off x="975207" y="2468880"/>
            <a:ext cx="1554480" cy="1554480"/>
          </a:xfrm>
          <a:prstGeom prst="hexagon">
            <a:avLst/>
          </a:prstGeom>
          <a:solidFill>
            <a:srgbClr val="0B2B4A"/>
          </a:solidFill>
          <a:ln w="25400">
            <a:solidFill>
              <a:srgbClr val="C9A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latin typeface="微軟正黑體"/>
              </a:rPr>
              <a:t>婚姻</a:t>
            </a:r>
          </a:p>
        </p:txBody>
      </p:sp>
      <p:sp>
        <p:nvSpPr>
          <p:cNvPr id="7" name="Hexagon 6"/>
          <p:cNvSpPr/>
          <p:nvPr/>
        </p:nvSpPr>
        <p:spPr>
          <a:xfrm>
            <a:off x="2712567" y="2468880"/>
            <a:ext cx="1554480" cy="1554480"/>
          </a:xfrm>
          <a:prstGeom prst="hexagon">
            <a:avLst/>
          </a:prstGeom>
          <a:solidFill>
            <a:srgbClr val="0B2B4A"/>
          </a:solidFill>
          <a:ln w="25400">
            <a:solidFill>
              <a:srgbClr val="C9A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latin typeface="微軟正黑體"/>
              </a:rPr>
              <a:t>生育</a:t>
            </a:r>
          </a:p>
        </p:txBody>
      </p:sp>
      <p:sp>
        <p:nvSpPr>
          <p:cNvPr id="8" name="Hexagon 7"/>
          <p:cNvSpPr/>
          <p:nvPr/>
        </p:nvSpPr>
        <p:spPr>
          <a:xfrm>
            <a:off x="4449927" y="2468880"/>
            <a:ext cx="1554480" cy="1554480"/>
          </a:xfrm>
          <a:prstGeom prst="hexagon">
            <a:avLst/>
          </a:prstGeom>
          <a:solidFill>
            <a:srgbClr val="0B2B4A"/>
          </a:solidFill>
          <a:ln w="25400">
            <a:solidFill>
              <a:srgbClr val="C9A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latin typeface="微軟正黑體"/>
              </a:rPr>
              <a:t>教養</a:t>
            </a:r>
          </a:p>
        </p:txBody>
      </p:sp>
      <p:sp>
        <p:nvSpPr>
          <p:cNvPr id="9" name="Hexagon 8"/>
          <p:cNvSpPr/>
          <p:nvPr/>
        </p:nvSpPr>
        <p:spPr>
          <a:xfrm>
            <a:off x="6187287" y="2468880"/>
            <a:ext cx="1554480" cy="1554480"/>
          </a:xfrm>
          <a:prstGeom prst="hexagon">
            <a:avLst/>
          </a:prstGeom>
          <a:solidFill>
            <a:srgbClr val="0B2B4A"/>
          </a:solidFill>
          <a:ln w="25400">
            <a:solidFill>
              <a:srgbClr val="C9A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latin typeface="微軟正黑體"/>
              </a:rPr>
              <a:t>照顧</a:t>
            </a:r>
          </a:p>
        </p:txBody>
      </p:sp>
      <p:sp>
        <p:nvSpPr>
          <p:cNvPr id="10" name="Hexagon 9"/>
          <p:cNvSpPr/>
          <p:nvPr/>
        </p:nvSpPr>
        <p:spPr>
          <a:xfrm>
            <a:off x="7924647" y="2468880"/>
            <a:ext cx="1554480" cy="1554480"/>
          </a:xfrm>
          <a:prstGeom prst="hexagon">
            <a:avLst/>
          </a:prstGeom>
          <a:solidFill>
            <a:srgbClr val="0B2B4A"/>
          </a:solidFill>
          <a:ln w="25400">
            <a:solidFill>
              <a:srgbClr val="C9A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latin typeface="微軟正黑體"/>
              </a:rPr>
              <a:t>經濟</a:t>
            </a:r>
          </a:p>
        </p:txBody>
      </p:sp>
      <p:sp>
        <p:nvSpPr>
          <p:cNvPr id="11" name="Hexagon 10"/>
          <p:cNvSpPr/>
          <p:nvPr/>
        </p:nvSpPr>
        <p:spPr>
          <a:xfrm>
            <a:off x="9662007" y="2468880"/>
            <a:ext cx="1554480" cy="1554480"/>
          </a:xfrm>
          <a:prstGeom prst="hexagon">
            <a:avLst/>
          </a:prstGeom>
          <a:solidFill>
            <a:srgbClr val="0B2B4A"/>
          </a:solidFill>
          <a:ln w="25400">
            <a:solidFill>
              <a:srgbClr val="C9A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微軟正黑體"/>
                <a:latin typeface="微軟正黑體"/>
              </a:rPr>
              <a:t>信仰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937760"/>
            <a:ext cx="10332720" cy="1280160"/>
          </a:xfrm>
          <a:prstGeom prst="rect">
            <a:avLst/>
          </a:prstGeom>
          <a:solidFill>
            <a:srgbClr val="C9A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9966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>
                <a:solidFill>
                  <a:srgbClr val="0B2B4A"/>
                </a:solidFill>
                <a:ea typeface="微軟正黑體"/>
                <a:latin typeface="微軟正黑體"/>
              </a:rPr>
              <a:t>「家庭不會因為議題分散就崩解，</a:t>
            </a:r>
          </a:p>
          <a:p>
            <a:pPr algn="ctr"/>
            <a:r>
              <a:rPr sz="2400" b="1">
                <a:solidFill>
                  <a:srgbClr val="0B2B4A"/>
                </a:solidFill>
                <a:ea typeface="微軟正黑體"/>
                <a:latin typeface="微軟正黑體"/>
              </a:rPr>
              <a:t>它是被『整個生活擠垮的』。」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國教行動聯盟  ·  跨出牆外的服事  ·  2026 重點 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latin typeface="微軟正黑體"/>
              </a:rPr>
              <a:t>2026 重點  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B2B4A"/>
                </a:solidFill>
                <a:ea typeface="微軟正黑體"/>
                <a:latin typeface="微軟正黑體"/>
              </a:rPr>
              <a:t>縱向：藥物濫用防制國際研討會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6B6B6B"/>
                </a:solidFill>
                <a:ea typeface="微軟正黑體"/>
                <a:latin typeface="微軟正黑體"/>
              </a:rPr>
              <a:t>校園新興毒品  ×  國際對話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3520440" cy="27432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3520440" cy="16459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5204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ea typeface="微軟正黑體"/>
                <a:latin typeface="微軟正黑體"/>
              </a:rPr>
              <a:t>依托咪酯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3520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D9A8"/>
                </a:solidFill>
                <a:ea typeface="微軟正黑體"/>
                <a:latin typeface="微軟正黑體"/>
              </a:rPr>
              <a:t>校園新興毒品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2468880"/>
            <a:ext cx="3520440" cy="27432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2468880"/>
            <a:ext cx="3520440" cy="16459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743200"/>
            <a:ext cx="35204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ea typeface="微軟正黑體"/>
                <a:latin typeface="微軟正黑體"/>
              </a:rPr>
              <a:t>喪屍煙彈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389120"/>
            <a:ext cx="3520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D9A8"/>
                </a:solidFill>
                <a:ea typeface="微軟正黑體"/>
                <a:latin typeface="微軟正黑體"/>
              </a:rPr>
              <a:t>化學戰等級攻擊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468880"/>
            <a:ext cx="3520440" cy="27432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2468880"/>
            <a:ext cx="3520440" cy="164592"/>
          </a:xfrm>
          <a:prstGeom prst="rect">
            <a:avLst/>
          </a:prstGeom>
          <a:solidFill>
            <a:srgbClr val="C9A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35204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ea typeface="微軟正黑體"/>
                <a:latin typeface="微軟正黑體"/>
              </a:rPr>
              <a:t>唾液快篩</a:t>
            </a:r>
          </a:p>
          <a:p>
            <a:pPr algn="ctr"/>
            <a:r>
              <a:rPr sz="3200" b="1">
                <a:solidFill>
                  <a:srgbClr val="FFFFFF"/>
                </a:solidFill>
                <a:ea typeface="微軟正黑體"/>
                <a:latin typeface="微軟正黑體"/>
              </a:rPr>
              <a:t>二層檢測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89120"/>
            <a:ext cx="3520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D9A8"/>
                </a:solidFill>
                <a:ea typeface="微軟正黑體"/>
                <a:latin typeface="微軟正黑體"/>
              </a:rPr>
              <a:t>國際對話桌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B2B4A"/>
                </a:solidFill>
                <a:ea typeface="微軟正黑體"/>
                <a:latin typeface="微軟正黑體"/>
              </a:rPr>
              <a:t>這不是技術問題，這是為這個世代築牆。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國教行動聯盟  ·  跨出牆外的服事  ·  2026 重點 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latin typeface="微軟正黑體"/>
              </a:rPr>
              <a:t>呼籲教會 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B2B4A"/>
                </a:solidFill>
                <a:ea typeface="微軟正黑體"/>
                <a:latin typeface="微軟正黑體"/>
              </a:rPr>
              <a:t>邀請：每一間教會的「公共政策小組」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B6B6B"/>
                </a:solidFill>
                <a:ea typeface="微軟正黑體"/>
                <a:latin typeface="微軟正黑體"/>
              </a:rPr>
              <a:t>沒有教會需要做全部，但每一間教會都可以做一塊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4937760" cy="18288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188720" y="3063240"/>
            <a:ext cx="365760" cy="0"/>
          </a:xfrm>
          <a:prstGeom prst="line">
            <a:avLst/>
          </a:prstGeom>
          <a:ln w="38100">
            <a:solidFill>
              <a:srgbClr val="C9A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33172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9A247"/>
                </a:solidFill>
                <a:ea typeface="微軟正黑體"/>
                <a:latin typeface="微軟正黑體"/>
              </a:rPr>
              <a:t>代禱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14600"/>
            <a:ext cx="2926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ea typeface="微軟正黑體"/>
                <a:latin typeface="微軟正黑體"/>
              </a:rPr>
              <a:t>為立法者、社工、教師守望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48840"/>
            <a:ext cx="4937760" cy="18288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492240" y="3063240"/>
            <a:ext cx="365760" cy="0"/>
          </a:xfrm>
          <a:prstGeom prst="line">
            <a:avLst/>
          </a:prstGeom>
          <a:ln w="38100">
            <a:solidFill>
              <a:srgbClr val="C9A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0" y="233172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9A247"/>
                </a:solidFill>
                <a:ea typeface="微軟正黑體"/>
                <a:latin typeface="微軟正黑體"/>
              </a:rPr>
              <a:t>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14600"/>
            <a:ext cx="2926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ea typeface="微軟正黑體"/>
                <a:latin typeface="微軟正黑體"/>
              </a:rPr>
              <a:t>聖經倫理 × 政策分析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06240"/>
            <a:ext cx="4937760" cy="18288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188720" y="5120640"/>
            <a:ext cx="365760" cy="0"/>
          </a:xfrm>
          <a:prstGeom prst="line">
            <a:avLst/>
          </a:prstGeom>
          <a:ln w="38100">
            <a:solidFill>
              <a:srgbClr val="C9A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38912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9A247"/>
                </a:solidFill>
                <a:ea typeface="微軟正黑體"/>
                <a:latin typeface="微軟正黑體"/>
              </a:rPr>
              <a:t>發聲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572000"/>
            <a:ext cx="2926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ea typeface="微軟正黑體"/>
                <a:latin typeface="微軟正黑體"/>
              </a:rPr>
              <a:t>公聽會、媒體、聯署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206240"/>
            <a:ext cx="4937760" cy="18288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492240" y="5120640"/>
            <a:ext cx="365760" cy="0"/>
          </a:xfrm>
          <a:prstGeom prst="line">
            <a:avLst/>
          </a:prstGeom>
          <a:ln w="38100">
            <a:solidFill>
              <a:srgbClr val="C9A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7920" y="438912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9A247"/>
                </a:solidFill>
                <a:ea typeface="微軟正黑體"/>
                <a:latin typeface="微軟正黑體"/>
              </a:rPr>
              <a:t>陪伴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572000"/>
            <a:ext cx="2926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ea typeface="微軟正黑體"/>
                <a:latin typeface="微軟正黑體"/>
              </a:rPr>
              <a:t>受害家庭、第一線實務工作者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B2B4A"/>
                </a:solidFill>
                <a:ea typeface="微軟正黑體"/>
                <a:latin typeface="微軟正黑體"/>
              </a:rPr>
              <a:t>找一塊您的教會最能委身的——這就是第一步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國教行動聯盟  ·  跨出牆外的服事  ·  呼籲教會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C9A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latin typeface="微軟正黑體"/>
              </a:rPr>
              <a:t>呼籲教會 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400"/>
              </a:spcAft>
            </a:pPr>
            <a:r>
              <a:rPr sz="3400" b="0">
                <a:solidFill>
                  <a:srgbClr val="FFFFFF"/>
                </a:solidFill>
                <a:ea typeface="標楷體"/>
                <a:latin typeface="標楷體"/>
              </a:rPr>
              <a:t>「焉知你得了王后的位分，</a:t>
            </a:r>
          </a:p>
          <a:p>
            <a:pPr algn="ctr"/>
            <a:r>
              <a:rPr sz="3800" b="1">
                <a:solidFill>
                  <a:srgbClr val="C9A247"/>
                </a:solidFill>
                <a:ea typeface="標楷體"/>
                <a:latin typeface="標楷體"/>
              </a:rPr>
              <a:t>不是為現今的機會嗎？」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4663440"/>
            <a:ext cx="2130552" cy="0"/>
          </a:xfrm>
          <a:prstGeom prst="line">
            <a:avLst/>
          </a:prstGeom>
          <a:ln w="31750">
            <a:solidFill>
              <a:srgbClr val="C9A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8D9A8"/>
                </a:solidFill>
                <a:ea typeface="微軟正黑體"/>
                <a:latin typeface="微軟正黑體"/>
              </a:rPr>
              <a:t>—— 以斯帖記 4:14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7F3EA"/>
                </a:solidFill>
                <a:ea typeface="微軟正黑體"/>
                <a:latin typeface="微軟正黑體"/>
              </a:rPr>
              <a:t>教會被神放在這個時代——不是為了安全，是為了現今的機會。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國教行動聯盟  ·  跨出牆外的服事  ·  呼籲教會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C9A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latin typeface="微軟正黑體"/>
              </a:rPr>
              <a:t>呼籲教會 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000" b="0">
                <a:solidFill>
                  <a:srgbClr val="FFFFFF"/>
                </a:solidFill>
                <a:ea typeface="標楷體"/>
                <a:latin typeface="標楷體"/>
              </a:rPr>
              <a:t>「約瑟……</a:t>
            </a:r>
          </a:p>
          <a:p>
            <a:pPr algn="ctr"/>
            <a:r>
              <a:rPr sz="5600" b="1">
                <a:solidFill>
                  <a:srgbClr val="C9A247"/>
                </a:solidFill>
                <a:ea typeface="標楷體"/>
                <a:latin typeface="標楷體"/>
              </a:rPr>
              <a:t>他的枝條探出牆外。」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8D9A8"/>
                </a:solidFill>
                <a:ea typeface="微軟正黑體"/>
                <a:latin typeface="微軟正黑體"/>
              </a:rPr>
              <a:t>—— 創世記 49:22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4434840"/>
            <a:ext cx="5788152" cy="0"/>
          </a:xfrm>
          <a:prstGeom prst="line">
            <a:avLst/>
          </a:prstGeom>
          <a:ln w="25400">
            <a:solidFill>
              <a:srgbClr val="C9A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466344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ea typeface="微軟正黑體"/>
                <a:latin typeface="微軟正黑體"/>
              </a:rPr>
              <a:t>教會的根，留在泉旁；</a:t>
            </a:r>
          </a:p>
          <a:p>
            <a:pPr algn="ctr"/>
            <a:r>
              <a:rPr sz="3000" b="1">
                <a:solidFill>
                  <a:srgbClr val="C9A247"/>
                </a:solidFill>
                <a:ea typeface="微軟正黑體"/>
                <a:latin typeface="微軟正黑體"/>
              </a:rPr>
              <a:t>教會的果子，必須探出牆外。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國教行動聯盟  ·  跨出牆外的服事  ·  呼籲教會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A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latin typeface="微軟正黑體"/>
              </a:rPr>
              <a:t>小組討論 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0B2B4A"/>
                </a:solidFill>
                <a:ea typeface="微軟正黑體"/>
                <a:latin typeface="微軟正黑體"/>
              </a:rPr>
              <a:t>這一步，我們從哪裡開始？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B2B4A"/>
                </a:solidFill>
                <a:ea typeface="微軟正黑體"/>
                <a:latin typeface="微軟正黑體"/>
              </a:rPr>
              <a:t>Discussion  ·  3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1033272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9784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ea typeface="微軟正黑體"/>
                <a:latin typeface="微軟正黑體"/>
              </a:rPr>
              <a:t>如果您的教會要踏出第一步參與公共政策——</a:t>
            </a:r>
          </a:p>
        </p:txBody>
      </p:sp>
      <p:sp>
        <p:nvSpPr>
          <p:cNvPr id="8" name="Oval 7"/>
          <p:cNvSpPr/>
          <p:nvPr/>
        </p:nvSpPr>
        <p:spPr>
          <a:xfrm>
            <a:off x="1463040" y="3200400"/>
            <a:ext cx="548640" cy="548640"/>
          </a:xfrm>
          <a:prstGeom prst="ellipse">
            <a:avLst/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C9A247"/>
                </a:solidFill>
                <a:ea typeface="微軟正黑體"/>
                <a:latin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2461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ea typeface="微軟正黑體"/>
                <a:latin typeface="微軟正黑體"/>
              </a:rPr>
              <a:t>是先從「代禱／研究／發聲／陪伴」哪一塊開始？</a:t>
            </a:r>
          </a:p>
        </p:txBody>
      </p:sp>
      <p:sp>
        <p:nvSpPr>
          <p:cNvPr id="10" name="Oval 9"/>
          <p:cNvSpPr/>
          <p:nvPr/>
        </p:nvSpPr>
        <p:spPr>
          <a:xfrm>
            <a:off x="1463040" y="3977640"/>
            <a:ext cx="548640" cy="548640"/>
          </a:xfrm>
          <a:prstGeom prst="ellipse">
            <a:avLst/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C9A247"/>
                </a:solidFill>
                <a:ea typeface="微軟正黑體"/>
                <a:latin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02336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ea typeface="微軟正黑體"/>
                <a:latin typeface="微軟正黑體"/>
              </a:rPr>
              <a:t>最大的攔阻是什麼？</a:t>
            </a:r>
          </a:p>
        </p:txBody>
      </p:sp>
      <p:sp>
        <p:nvSpPr>
          <p:cNvPr id="12" name="Oval 11"/>
          <p:cNvSpPr/>
          <p:nvPr/>
        </p:nvSpPr>
        <p:spPr>
          <a:xfrm>
            <a:off x="1463040" y="4754880"/>
            <a:ext cx="548640" cy="548640"/>
          </a:xfrm>
          <a:prstGeom prst="ellipse">
            <a:avLst/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C9A247"/>
                </a:solidFill>
                <a:ea typeface="微軟正黑體"/>
                <a:latin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80060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B2B4A"/>
                </a:solidFill>
                <a:ea typeface="微軟正黑體"/>
                <a:latin typeface="微軟正黑體"/>
              </a:rPr>
              <a:t>您願意帶  誰  一起？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B2B4A"/>
                </a:solidFill>
                <a:ea typeface="微軟正黑體"/>
                <a:latin typeface="微軟正黑體"/>
              </a:rPr>
              <a:t>挑一題回應就好  ·  讓你想到的那個人，等一下你會打給他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國教行動聯盟  ·  跨出牆外的服事  ·  小組討論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C9A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ea typeface="微軟正黑體"/>
                <a:latin typeface="微軟正黑體"/>
              </a:rPr>
              <a:t>結語禱告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ea typeface="微軟正黑體"/>
                <a:latin typeface="微軟正黑體"/>
              </a:rPr>
              <a:t>為「探出牆外」的呼召禱告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9418320" cy="3108960"/>
          </a:xfrm>
          <a:prstGeom prst="rect">
            <a:avLst/>
          </a:prstGeom>
          <a:solidFill>
            <a:srgbClr val="1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8869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ea typeface="標楷體"/>
                <a:latin typeface="標楷體"/>
              </a:rPr>
              <a:t>主，求祢讓台灣教會的枝條，</a:t>
            </a:r>
          </a:p>
          <a:p>
            <a:pPr algn="ctr">
              <a:spcAft>
                <a:spcPts val="1200"/>
              </a:spcAft>
            </a:pPr>
            <a:r>
              <a:rPr sz="2600" b="1">
                <a:solidFill>
                  <a:srgbClr val="C9A247"/>
                </a:solidFill>
                <a:ea typeface="標楷體"/>
                <a:latin typeface="標楷體"/>
              </a:rPr>
              <a:t>長出牆外，</a:t>
            </a:r>
          </a:p>
          <a:p>
            <a:pPr algn="ctr"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ea typeface="標楷體"/>
                <a:latin typeface="標楷體"/>
              </a:rPr>
              <a:t>結出剴剴等不到的果子，</a:t>
            </a:r>
          </a:p>
          <a:p>
            <a:pPr algn="ctr"/>
            <a:r>
              <a:rPr sz="2400" b="0">
                <a:solidFill>
                  <a:srgbClr val="FFFFFF"/>
                </a:solidFill>
                <a:ea typeface="標楷體"/>
                <a:latin typeface="標楷體"/>
              </a:rPr>
              <a:t>結出下一代需要的盼望。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8D9A8"/>
                </a:solidFill>
                <a:ea typeface="微軟正黑體"/>
                <a:latin typeface="微軟正黑體"/>
              </a:rPr>
              <a:t>奉主耶穌的名禱告，阿們。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國教行動聯盟  ·  跨出牆外的服事  ·  結語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ea typeface="微軟正黑體"/>
                <a:latin typeface="微軟正黑體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